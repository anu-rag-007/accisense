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15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5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Relationship Id="rId10" Type="http://schemas.openxmlformats.org/officeDocument/2006/relationships/hyperlink" Target="https://drive.google.com/file/d/12sOsZKcAaoX4mYInZCxs0mmenFUqQsua/view?usp=drive_link" TargetMode="External"/><Relationship Id="rId11" Type="http://schemas.openxmlformats.org/officeDocument/2006/relationships/hyperlink" Target="https://youtu.be/8CXjI1oqYuA?si=LyncG314lvh1BxOJ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5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5.png"/><Relationship Id="rId8" Type="http://schemas.openxmlformats.org/officeDocument/2006/relationships/image" Target="../media/image-9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463040"/>
            <a:ext cx="4754880" cy="475488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3" name="Shape 1"/>
          <p:cNvSpPr/>
          <p:nvPr/>
        </p:nvSpPr>
        <p:spPr>
          <a:xfrm>
            <a:off x="9859975" y="-685800"/>
            <a:ext cx="3200400" cy="3200400"/>
          </a:xfrm>
          <a:prstGeom prst="ellipse">
            <a:avLst/>
          </a:prstGeom>
          <a:solidFill>
            <a:srgbClr val="2E4270"/>
          </a:solidFill>
          <a:ln/>
        </p:spPr>
      </p:sp>
      <p:sp>
        <p:nvSpPr>
          <p:cNvPr id="4" name="Shape 2"/>
          <p:cNvSpPr/>
          <p:nvPr/>
        </p:nvSpPr>
        <p:spPr>
          <a:xfrm>
            <a:off x="10500055" y="-45720"/>
            <a:ext cx="1920240" cy="1920240"/>
          </a:xfrm>
          <a:prstGeom prst="ellipse">
            <a:avLst/>
          </a:prstGeom>
          <a:ln w="31750">
            <a:solidFill>
              <a:srgbClr val="FF4C2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74375" y="228600"/>
            <a:ext cx="1371600" cy="1371600"/>
          </a:xfrm>
          <a:prstGeom prst="ellipse">
            <a:avLst/>
          </a:prstGeom>
          <a:solidFill>
            <a:srgbClr val="FF4C2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HACKINDIA 2026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783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AcciSense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803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Accident Emergency Response &amp; Automated Escalation System</a:t>
            </a:r>
            <a:endParaRPr lang="en-US" sz="1800" dirty="0"/>
          </a:p>
        </p:txBody>
      </p:sp>
      <p:pic>
        <p:nvPicPr>
          <p:cNvPr id="9" name="Image 0" descr="/home/claude/icons/satellite_FF4C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776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11480" y="4416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39593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C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pic>
        <p:nvPicPr>
          <p:cNvPr id="12" name="Image 1" descr="/home/claude/icons/brain_FF4C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39776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28800" y="4416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2377440" y="39593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C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pic>
        <p:nvPicPr>
          <p:cNvPr id="15" name="Image 2" descr="/home/claude/icons/paperplane_FF4C2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39776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246120" y="4416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3794760" y="39593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C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pic>
        <p:nvPicPr>
          <p:cNvPr id="18" name="Image 3" descr="/home/claude/icons/levelup_FF4C2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97764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663440" y="4416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5212080" y="39593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C5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pic>
        <p:nvPicPr>
          <p:cNvPr id="21" name="Image 4" descr="/home/claude/icons/shield_FF4C2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97764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080760" y="4416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A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548640" y="5349240"/>
            <a:ext cx="2788920" cy="621792"/>
          </a:xfrm>
          <a:prstGeom prst="roundRect">
            <a:avLst>
              <a:gd name="adj" fmla="val 11765"/>
            </a:avLst>
          </a:prstGeom>
          <a:solidFill>
            <a:srgbClr val="FF4C2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548640" y="534924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RUNTIME TERROR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3611880" y="5349240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Category: Software  |  Theme: Disaster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607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8882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/home/claude/icons/networ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082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20240" y="185623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130552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Fragmented, Manual Dispatch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532888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relies on fragmented, multi-channel reporting, causing catastrophic delays during traffic and structural accidents.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364992"/>
            <a:ext cx="10607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662172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2" name="Image 1" descr="/home/claude/icons/bellslas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88162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920240" y="352958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874520" y="3803904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Escalation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1874520" y="42062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systems lack state-aware mechanics to automatically scale up unacknowledged critical alerts to fallback authorities.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5038344"/>
            <a:ext cx="1060704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5335524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8" name="Image 2" descr="/home/claude/icon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555498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920240" y="52029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874520" y="547725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Compliance Records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874520" y="587959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databases are vulnerable to manipulation or erasure, undermining transparent audits for civic and insurance accountability.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AcciSense  |  Team Runtime Terror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— AcciSense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end-to-end, autonomous pipeline that ingests accident signals, classifies severity with AI, and drives alerts through an enforced SLA escalation ladder — entirely eliminating manual dispatch delays.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975104" cy="30632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2542032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0" descr="/home/claude/icons/satellit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88336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020824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7C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33375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Ingestion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68096" y="3822192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FastAPI gateway ingests signals from citizen SOS reports, IoT crash sensors, and partner feeds in real time.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468880" y="3689604"/>
            <a:ext cx="256032" cy="256032"/>
          </a:xfrm>
          <a:prstGeom prst="rightArrow">
            <a:avLst/>
          </a:prstGeom>
          <a:solidFill>
            <a:srgbClr val="FF4C29"/>
          </a:solidFill>
          <a:ln/>
        </p:spPr>
      </p:sp>
      <p:sp>
        <p:nvSpPr>
          <p:cNvPr id="12" name="Shape 9"/>
          <p:cNvSpPr/>
          <p:nvPr/>
        </p:nvSpPr>
        <p:spPr>
          <a:xfrm>
            <a:off x="2642616" y="2286000"/>
            <a:ext cx="1975104" cy="30632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862072" y="2542032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1" descr="/home/claude/icons/bra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76" y="2688336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114800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7C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2862072" y="33375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Orchestration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2862072" y="3822192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microservice + AI node classify the accident and score confidence.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562856" y="3689604"/>
            <a:ext cx="256032" cy="256032"/>
          </a:xfrm>
          <a:prstGeom prst="rightArrow">
            <a:avLst/>
          </a:prstGeom>
          <a:solidFill>
            <a:srgbClr val="FF4C29"/>
          </a:solidFill>
          <a:ln/>
        </p:spPr>
      </p:sp>
      <p:sp>
        <p:nvSpPr>
          <p:cNvPr id="19" name="Shape 15"/>
          <p:cNvSpPr/>
          <p:nvPr/>
        </p:nvSpPr>
        <p:spPr>
          <a:xfrm>
            <a:off x="4736592" y="2286000"/>
            <a:ext cx="1975104" cy="30632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956048" y="2542032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2" descr="/home/claude/icons/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2688336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208776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7C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4956048" y="33375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1450" dirty="0"/>
          </a:p>
        </p:txBody>
      </p:sp>
      <p:sp>
        <p:nvSpPr>
          <p:cNvPr id="24" name="Text 19"/>
          <p:cNvSpPr txBox="1"/>
          <p:nvPr/>
        </p:nvSpPr>
        <p:spPr>
          <a:xfrm>
            <a:off x="4956048" y="3822192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mapped into structured JSON schemas for downstream use.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656832" y="3689604"/>
            <a:ext cx="256032" cy="256032"/>
          </a:xfrm>
          <a:prstGeom prst="rightArrow">
            <a:avLst/>
          </a:prstGeom>
          <a:solidFill>
            <a:srgbClr val="FF4C29"/>
          </a:solidFill>
          <a:ln/>
        </p:spPr>
      </p:sp>
      <p:sp>
        <p:nvSpPr>
          <p:cNvPr id="26" name="Shape 21"/>
          <p:cNvSpPr/>
          <p:nvPr/>
        </p:nvSpPr>
        <p:spPr>
          <a:xfrm>
            <a:off x="6830568" y="2286000"/>
            <a:ext cx="1975104" cy="30632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050024" y="2542032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8" name="Image 3" descr="/home/claude/icons/paperplan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328" y="2688336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302752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7C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7050024" y="33375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Alerting</a:t>
            </a:r>
            <a:endParaRPr lang="en-US" sz="1450" dirty="0"/>
          </a:p>
        </p:txBody>
      </p:sp>
      <p:sp>
        <p:nvSpPr>
          <p:cNvPr id="31" name="Text 25"/>
          <p:cNvSpPr txBox="1"/>
          <p:nvPr/>
        </p:nvSpPr>
        <p:spPr>
          <a:xfrm>
            <a:off x="7050024" y="3822192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Telegram Bot webhooks simulate a live control room.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8750808" y="3689604"/>
            <a:ext cx="256032" cy="256032"/>
          </a:xfrm>
          <a:prstGeom prst="rightArrow">
            <a:avLst/>
          </a:prstGeom>
          <a:solidFill>
            <a:srgbClr val="FF4C29"/>
          </a:solidFill>
          <a:ln/>
        </p:spPr>
      </p:sp>
      <p:sp>
        <p:nvSpPr>
          <p:cNvPr id="33" name="Shape 27"/>
          <p:cNvSpPr/>
          <p:nvPr/>
        </p:nvSpPr>
        <p:spPr>
          <a:xfrm>
            <a:off x="8924544" y="2286000"/>
            <a:ext cx="1975104" cy="30632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9144000" y="2542032"/>
            <a:ext cx="640080" cy="640080"/>
          </a:xfrm>
          <a:prstGeom prst="ellipse">
            <a:avLst/>
          </a:prstGeom>
          <a:solidFill>
            <a:srgbClr val="FF4C29"/>
          </a:solidFill>
          <a:ln/>
        </p:spPr>
      </p:sp>
      <p:pic>
        <p:nvPicPr>
          <p:cNvPr id="35" name="Image 4" descr="/home/claude/icons/levelup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304" y="2688336"/>
            <a:ext cx="347472" cy="347472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0396728" y="2377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7CED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9144000" y="333756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Escalation</a:t>
            </a:r>
            <a:endParaRPr lang="en-US" sz="1450" dirty="0"/>
          </a:p>
        </p:txBody>
      </p:sp>
      <p:sp>
        <p:nvSpPr>
          <p:cNvPr id="38" name="Text 31"/>
          <p:cNvSpPr txBox="1"/>
          <p:nvPr/>
        </p:nvSpPr>
        <p:spPr>
          <a:xfrm>
            <a:off x="9144000" y="3822192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Unacknowledged critical alerts auto-escalate to higher authorities.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548640" y="5623560"/>
            <a:ext cx="1060704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pic>
        <p:nvPicPr>
          <p:cNvPr id="40" name="Image 5" descr="/home/claude/icons/bolt_FF4C2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797296"/>
            <a:ext cx="329184" cy="329184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234440" y="56235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350" dirty="0">
                <a:solidFill>
                  <a:srgbClr val="E6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to escalation runs end-to-end with zero manual coordination — the entire chain above is autonomous.</a:t>
            </a:r>
            <a:endParaRPr lang="en-US" sz="1350" dirty="0"/>
          </a:p>
        </p:txBody>
      </p:sp>
      <p:sp>
        <p:nvSpPr>
          <p:cNvPr id="42" name="Text 34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AcciSense  |  Team Runtime Terror</a:t>
            </a:r>
            <a:endParaRPr lang="en-US" sz="1100" dirty="0"/>
          </a:p>
        </p:txBody>
      </p:sp>
      <p:sp>
        <p:nvSpPr>
          <p:cNvPr id="43" name="Text 35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 &amp; Challenges Overcome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1B2A4A"/>
          </a:solidFill>
          <a:ln/>
        </p:spPr>
        <p:txBody>
          <a:bodyPr/>
          <a:p/>
        </p:txBody>
      </p:sp>
      <p:pic>
        <p:nvPicPr>
          <p:cNvPr id="6" name="Image 0" descr="/home/claude/icons/satellit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2164" y="192938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2331720"/>
            <a:ext cx="1728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404872" y="22174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606040" y="178308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1B2A4A"/>
          </a:solidFill>
          <a:ln/>
        </p:spPr>
        <p:txBody>
          <a:bodyPr/>
          <a:p/>
        </p:txBody>
      </p:sp>
      <p:pic>
        <p:nvPicPr>
          <p:cNvPr id="10" name="Image 1" descr="/home/claude/icons/bra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564" y="192938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79192" y="2331720"/>
            <a:ext cx="1728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462272" y="22174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4663440" y="178308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1B2A4A"/>
          </a:solidFill>
          <a:ln/>
        </p:spPr>
        <p:txBody>
          <a:bodyPr/>
          <a:p/>
        </p:txBody>
      </p:sp>
      <p:pic>
        <p:nvPicPr>
          <p:cNvPr id="14" name="Image 2" descr="/home/claude/icons/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964" y="1929384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736592" y="2331720"/>
            <a:ext cx="1728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Parsing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Scoring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519672" y="22174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6720840" y="178308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1B2A4A"/>
          </a:solidFill>
          <a:ln/>
        </p:spPr>
        <p:txBody>
          <a:bodyPr/>
          <a:p/>
        </p:txBody>
      </p:sp>
      <p:pic>
        <p:nvPicPr>
          <p:cNvPr id="18" name="Image 3" descr="/home/claude/icons/paperplan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364" y="1929384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793992" y="2331720"/>
            <a:ext cx="1728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Alerts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8577072" y="22174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8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8778240" y="1783080"/>
            <a:ext cx="1874520" cy="1234440"/>
          </a:xfrm>
          <a:prstGeom prst="roundRect">
            <a:avLst>
              <a:gd name="adj" fmla="val 4444"/>
            </a:avLst>
          </a:prstGeom>
          <a:solidFill>
            <a:srgbClr val="FF4C29"/>
          </a:solidFill>
          <a:ln/>
        </p:spPr>
        <p:txBody>
          <a:bodyPr/>
          <a:p/>
        </p:txBody>
      </p:sp>
      <p:pic>
        <p:nvPicPr>
          <p:cNvPr id="22" name="Image 4" descr="/home/claude/icons/levelup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1764" y="1929384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851392" y="2331720"/>
            <a:ext cx="17282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SLA-Based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3429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OVERCOME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548640" y="3794760"/>
            <a:ext cx="51663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Shape 19"/>
          <p:cNvSpPr/>
          <p:nvPr/>
        </p:nvSpPr>
        <p:spPr>
          <a:xfrm>
            <a:off x="804672" y="4050792"/>
            <a:ext cx="566928" cy="566928"/>
          </a:xfrm>
          <a:prstGeom prst="ellipse">
            <a:avLst/>
          </a:prstGeom>
          <a:solidFill>
            <a:srgbClr val="FDEEE9"/>
          </a:solidFill>
          <a:ln/>
        </p:spPr>
        <p:txBody>
          <a:bodyPr/>
          <a:p/>
        </p:txBody>
      </p:sp>
      <p:pic>
        <p:nvPicPr>
          <p:cNvPr id="27" name="Image 5" descr="/home/claude/icons/warning_FF4C2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178808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554480" y="40873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Webhook Payloads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804672" y="4800600"/>
            <a:ext cx="4654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Multiline raw text from webhook callbacks broke raw syntax constraints inside our text compilers. Fixed with clean string-extraction pipelines in n8n that separate input text from formatting nodes before execution.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5989320" y="3794760"/>
            <a:ext cx="51663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2A4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" name="Shape 23"/>
          <p:cNvSpPr/>
          <p:nvPr/>
        </p:nvSpPr>
        <p:spPr>
          <a:xfrm>
            <a:off x="6245352" y="4050792"/>
            <a:ext cx="566928" cy="566928"/>
          </a:xfrm>
          <a:prstGeom prst="ellipse">
            <a:avLst/>
          </a:prstGeom>
          <a:solidFill>
            <a:srgbClr val="FDEEE9"/>
          </a:solidFill>
          <a:ln/>
        </p:spPr>
        <p:txBody>
          <a:bodyPr/>
          <a:p/>
        </p:txBody>
      </p:sp>
      <p:pic>
        <p:nvPicPr>
          <p:cNvPr id="32" name="Image 6" descr="/home/claude/icons/link_FF4C2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4178808"/>
            <a:ext cx="310896" cy="310896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995160" y="40873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Web2 Speed with Web3 Immutability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6245352" y="4800600"/>
            <a:ext cx="46542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high-velocity infrastructure (database clusters, REST gateways) to decentralized, peer-to-peer file states risked blocking. Solved with asynchronous webhook loops that keep live communication fast.</a:t>
            </a:r>
            <a:endParaRPr lang="en-US" sz="1250" dirty="0"/>
          </a:p>
        </p:txBody>
      </p:sp>
      <p:sp>
        <p:nvSpPr>
          <p:cNvPr id="35" name="Text 26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AcciSense  |  Team Runtime Terror</a:t>
            </a:r>
            <a:endParaRPr lang="en-US" sz="1100" dirty="0"/>
          </a:p>
        </p:txBody>
      </p:sp>
      <p:sp>
        <p:nvSpPr>
          <p:cNvPr id="36" name="Text 27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Box 36"/>
          <p:cNvSpPr txBox="1"/>
          <p:nvPr/>
        </p:nvSpPr>
        <p:spPr>
          <a:xfrm>
            <a:off x="548640" y="6080760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u="sng">
                <a:hlinkClick r:id="rId11"/>
              </a:rPr>
              <a:t>https://youtu.be/8CXjI1oqYuA?si=LyncG314lvh1BxOJ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TRANSPARENCY &amp; IMPACT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Web3 Integration &amp; Impact / Benefits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AUDIT LOG (WEB3)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40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incident parameters, operator response times, and routing paths are compiled into a standardized JSON object and pushed to IPFS via Pinata — generating a permanent, tamper-proof CID hash. The CID is written back to Supabase for programmatic verification via Swagger UI.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261872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pic>
        <p:nvPicPr>
          <p:cNvPr id="7" name="Image 0" descr="/home/claude/icons/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33741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37216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783080" y="3721608"/>
            <a:ext cx="201168" cy="146304"/>
          </a:xfrm>
          <a:prstGeom prst="rightArrow">
            <a:avLst/>
          </a:prstGeom>
          <a:solidFill>
            <a:srgbClr val="8892A8"/>
          </a:solidFill>
          <a:ln/>
        </p:spPr>
      </p:sp>
      <p:sp>
        <p:nvSpPr>
          <p:cNvPr id="10" name="Shape 7"/>
          <p:cNvSpPr/>
          <p:nvPr/>
        </p:nvSpPr>
        <p:spPr>
          <a:xfrm>
            <a:off x="1938528" y="3246120"/>
            <a:ext cx="1261872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pic>
        <p:nvPicPr>
          <p:cNvPr id="11" name="Image 1" descr="/home/claude/icons/serv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33741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84248" y="37216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IPFS via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Pinata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172968" y="3721608"/>
            <a:ext cx="201168" cy="146304"/>
          </a:xfrm>
          <a:prstGeom prst="rightArrow">
            <a:avLst/>
          </a:prstGeom>
          <a:solidFill>
            <a:srgbClr val="8892A8"/>
          </a:solidFill>
          <a:ln/>
        </p:spPr>
      </p:sp>
      <p:sp>
        <p:nvSpPr>
          <p:cNvPr id="14" name="Shape 10"/>
          <p:cNvSpPr/>
          <p:nvPr/>
        </p:nvSpPr>
        <p:spPr>
          <a:xfrm>
            <a:off x="3328416" y="3246120"/>
            <a:ext cx="1261872" cy="1097280"/>
          </a:xfrm>
          <a:prstGeom prst="roundRect">
            <a:avLst>
              <a:gd name="adj" fmla="val 5000"/>
            </a:avLst>
          </a:prstGeom>
          <a:solidFill>
            <a:srgbClr val="FF4C29"/>
          </a:solidFill>
          <a:ln/>
        </p:spPr>
      </p:sp>
      <p:pic>
        <p:nvPicPr>
          <p:cNvPr id="15" name="Image 2" descr="/home/claude/icons/lo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8" y="337413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374136" y="37216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 Hash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562856" y="3721608"/>
            <a:ext cx="201168" cy="146304"/>
          </a:xfrm>
          <a:prstGeom prst="rightArrow">
            <a:avLst/>
          </a:prstGeom>
          <a:solidFill>
            <a:srgbClr val="8892A8"/>
          </a:solidFill>
          <a:ln/>
        </p:spPr>
      </p:sp>
      <p:sp>
        <p:nvSpPr>
          <p:cNvPr id="18" name="Shape 13"/>
          <p:cNvSpPr/>
          <p:nvPr/>
        </p:nvSpPr>
        <p:spPr>
          <a:xfrm>
            <a:off x="4718304" y="3246120"/>
            <a:ext cx="1261872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pic>
        <p:nvPicPr>
          <p:cNvPr id="19" name="Image 3" descr="/home/claude/icons/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936" y="3374136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764024" y="37216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4709160"/>
            <a:ext cx="5440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pic>
        <p:nvPicPr>
          <p:cNvPr id="22" name="Image 4" descr="/home/claude/icons/shield_FF4C2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93776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25880" y="482803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take our word for.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independently verify a CID against Supabase via Swagger UI — no trust required.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355080" y="1508760"/>
            <a:ext cx="0" cy="461772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6294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629400" y="1938528"/>
            <a:ext cx="438912" cy="438912"/>
          </a:xfrm>
          <a:prstGeom prst="ellipse">
            <a:avLst/>
          </a:prstGeom>
          <a:solidFill>
            <a:srgbClr val="FDEEE9"/>
          </a:solidFill>
          <a:ln/>
        </p:spPr>
      </p:sp>
      <p:pic>
        <p:nvPicPr>
          <p:cNvPr id="27" name="Image 5" descr="/home/claude/icons/bolt_FF4C2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984" y="203911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223760" y="1892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Emergency Response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7223760" y="22677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manual coordination delays via a fully autonomous alert pipeline.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6629400" y="2990088"/>
            <a:ext cx="438912" cy="438912"/>
          </a:xfrm>
          <a:prstGeom prst="ellipse">
            <a:avLst/>
          </a:prstGeom>
          <a:solidFill>
            <a:srgbClr val="FDEEE9"/>
          </a:solidFill>
          <a:ln/>
        </p:spPr>
      </p:sp>
      <p:pic>
        <p:nvPicPr>
          <p:cNvPr id="31" name="Image 6" descr="/home/claude/icons/shield_FF4C2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3090672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223760" y="29443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Accountability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7223760" y="33192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SLA-based escalation ensures no critical alert goes unacknowledged.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6629400" y="4041648"/>
            <a:ext cx="438912" cy="438912"/>
          </a:xfrm>
          <a:prstGeom prst="ellipse">
            <a:avLst/>
          </a:prstGeom>
          <a:solidFill>
            <a:srgbClr val="FDEEE9"/>
          </a:solidFill>
          <a:ln/>
        </p:spPr>
      </p:sp>
      <p:pic>
        <p:nvPicPr>
          <p:cNvPr id="35" name="Image 7" descr="/home/claude/icons/lock_FF4C29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9984" y="4142232"/>
            <a:ext cx="237744" cy="237744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223760" y="3995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Compliance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7223760" y="43708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CID footprint prevents record alteration or erasure.</a:t>
            </a:r>
            <a:endParaRPr lang="en-US" sz="1250" dirty="0"/>
          </a:p>
        </p:txBody>
      </p:sp>
      <p:sp>
        <p:nvSpPr>
          <p:cNvPr id="38" name="Shape 28"/>
          <p:cNvSpPr/>
          <p:nvPr/>
        </p:nvSpPr>
        <p:spPr>
          <a:xfrm>
            <a:off x="6629400" y="5093208"/>
            <a:ext cx="438912" cy="438912"/>
          </a:xfrm>
          <a:prstGeom prst="ellipse">
            <a:avLst/>
          </a:prstGeom>
          <a:solidFill>
            <a:srgbClr val="FDEEE9"/>
          </a:solidFill>
          <a:ln/>
        </p:spPr>
      </p:sp>
      <p:pic>
        <p:nvPicPr>
          <p:cNvPr id="39" name="Image 8" descr="/home/claude/icons/handshake_FF4C2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9984" y="5193792"/>
            <a:ext cx="237744" cy="237744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223760" y="5047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&amp; Insurance Trust</a:t>
            </a:r>
            <a:endParaRPr lang="en-US" sz="1500" dirty="0"/>
          </a:p>
        </p:txBody>
      </p:sp>
      <p:sp>
        <p:nvSpPr>
          <p:cNvPr id="41" name="Text 30"/>
          <p:cNvSpPr txBox="1"/>
          <p:nvPr/>
        </p:nvSpPr>
        <p:spPr>
          <a:xfrm>
            <a:off x="7223760" y="54223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audit trail supports transparent claims and audits.</a:t>
            </a:r>
            <a:endParaRPr lang="en-US" sz="1250" dirty="0"/>
          </a:p>
        </p:txBody>
      </p:sp>
      <p:sp>
        <p:nvSpPr>
          <p:cNvPr id="42" name="Text 31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AcciSense  |  Team Runtime Terror</a:t>
            </a:r>
            <a:endParaRPr lang="en-US" sz="1100" dirty="0"/>
          </a:p>
        </p:txBody>
      </p:sp>
      <p:sp>
        <p:nvSpPr>
          <p:cNvPr id="43" name="Text 32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ROADMAP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Deployment — Delivery Partner Network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WILL WORK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440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post-MVP rollout: AcciSense integrates with delivery-partner apps like Blinkit so alerts reach nearby riders directly — no new app, no fresh permissions, and no cash incentive needed to participate.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1261872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pic>
        <p:nvPicPr>
          <p:cNvPr id="7" name="Image 0" descr="/home/claude/icons/smartphon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3374136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37216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783080" y="3721608"/>
            <a:ext cx="201168" cy="146304"/>
          </a:xfrm>
          <a:prstGeom prst="rightArrow">
            <a:avLst/>
          </a:prstGeom>
          <a:solidFill>
            <a:srgbClr val="8892A8"/>
          </a:solidFill>
          <a:ln/>
        </p:spPr>
      </p:sp>
      <p:sp>
        <p:nvSpPr>
          <p:cNvPr id="10" name="Shape 7"/>
          <p:cNvSpPr/>
          <p:nvPr/>
        </p:nvSpPr>
        <p:spPr>
          <a:xfrm>
            <a:off x="1938528" y="3246120"/>
            <a:ext cx="1261872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pic>
        <p:nvPicPr>
          <p:cNvPr id="11" name="Image 1" descr="/home/claude/icons/mappin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33741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984248" y="37216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172968" y="3721608"/>
            <a:ext cx="201168" cy="146304"/>
          </a:xfrm>
          <a:prstGeom prst="rightArrow">
            <a:avLst/>
          </a:prstGeom>
          <a:solidFill>
            <a:srgbClr val="8892A8"/>
          </a:solidFill>
          <a:ln/>
        </p:spPr>
      </p:sp>
      <p:sp>
        <p:nvSpPr>
          <p:cNvPr id="14" name="Shape 10"/>
          <p:cNvSpPr/>
          <p:nvPr/>
        </p:nvSpPr>
        <p:spPr>
          <a:xfrm>
            <a:off x="3328416" y="3246120"/>
            <a:ext cx="1261872" cy="1097280"/>
          </a:xfrm>
          <a:prstGeom prst="roundRect">
            <a:avLst>
              <a:gd name="adj" fmla="val 5000"/>
            </a:avLst>
          </a:prstGeom>
          <a:solidFill>
            <a:srgbClr val="FF4C29"/>
          </a:solidFill>
          <a:ln/>
        </p:spPr>
      </p:sp>
      <p:pic>
        <p:nvPicPr>
          <p:cNvPr id="15" name="Image 2" descr="/home/claude/icons/bel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3048" y="337413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374136" y="37216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562856" y="3721608"/>
            <a:ext cx="201168" cy="146304"/>
          </a:xfrm>
          <a:prstGeom prst="rightArrow">
            <a:avLst/>
          </a:prstGeom>
          <a:solidFill>
            <a:srgbClr val="8892A8"/>
          </a:solidFill>
          <a:ln/>
        </p:spPr>
      </p:sp>
      <p:sp>
        <p:nvSpPr>
          <p:cNvPr id="18" name="Shape 13"/>
          <p:cNvSpPr/>
          <p:nvPr/>
        </p:nvSpPr>
        <p:spPr>
          <a:xfrm>
            <a:off x="4718304" y="3246120"/>
            <a:ext cx="1261872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pic>
        <p:nvPicPr>
          <p:cNvPr id="19" name="Image 3" descr="/home/claude/icons/checkcirc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936" y="3374136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764024" y="3721608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4709160"/>
            <a:ext cx="54406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pic>
        <p:nvPicPr>
          <p:cNvPr id="22" name="Image 4" descr="/home/claude/icons/shield_FF4C29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93776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25880" y="4828032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Zero-effort by design.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presence is a single tap on location data the partner app already has — no detour, no physical intervention, and nothing to game since there's no payout.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355080" y="1508760"/>
            <a:ext cx="0" cy="461772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62940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FF4C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SAFE &amp; SUSTAINABLE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629400" y="1938528"/>
            <a:ext cx="438912" cy="438912"/>
          </a:xfrm>
          <a:prstGeom prst="ellipse">
            <a:avLst/>
          </a:prstGeom>
          <a:solidFill>
            <a:srgbClr val="FDEEE9"/>
          </a:solidFill>
          <a:ln/>
        </p:spPr>
      </p:sp>
      <p:pic>
        <p:nvPicPr>
          <p:cNvPr id="27" name="Image 5" descr="/home/claude/icons/bolt_FF4C2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9984" y="203911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223760" y="18928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On-Ground Help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7223760" y="226771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partners can confirm presence within minutes, shrinking the gap before official responders arrive.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6629400" y="2990088"/>
            <a:ext cx="438912" cy="438912"/>
          </a:xfrm>
          <a:prstGeom prst="ellipse">
            <a:avLst/>
          </a:prstGeom>
          <a:solidFill>
            <a:srgbClr val="FDEEE9"/>
          </a:solidFill>
          <a:ln/>
        </p:spPr>
      </p:sp>
      <p:pic>
        <p:nvPicPr>
          <p:cNvPr id="31" name="Image 6" descr="/home/claude/icons/shield_FF4C29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3090672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223760" y="29443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Fraud-Resistant by Design</a:t>
            </a:r>
            <a:endParaRPr lang="en-US" sz="1500" dirty="0"/>
          </a:p>
        </p:txBody>
      </p:sp>
      <p:sp>
        <p:nvSpPr>
          <p:cNvPr id="33" name="Text 24"/>
          <p:cNvSpPr txBox="1"/>
          <p:nvPr/>
        </p:nvSpPr>
        <p:spPr>
          <a:xfrm>
            <a:off x="7223760" y="331927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is confirmed via GPS match to the incident, not self-reported claims, so it can't be gamed.</a:t>
            </a:r>
            <a:endParaRPr lang="en-US" sz="1250" dirty="0"/>
          </a:p>
        </p:txBody>
      </p:sp>
      <p:sp>
        <p:nvSpPr>
          <p:cNvPr id="34" name="Shape 25"/>
          <p:cNvSpPr/>
          <p:nvPr/>
        </p:nvSpPr>
        <p:spPr>
          <a:xfrm>
            <a:off x="6629400" y="4041648"/>
            <a:ext cx="438912" cy="438912"/>
          </a:xfrm>
          <a:prstGeom prst="ellipse">
            <a:avLst/>
          </a:prstGeom>
          <a:solidFill>
            <a:srgbClr val="FDEEE9"/>
          </a:solidFill>
          <a:ln/>
        </p:spPr>
      </p:sp>
      <p:pic>
        <p:nvPicPr>
          <p:cNvPr id="35" name="Image 7" descr="/home/claude/icons/usercheck_FF4C29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9984" y="4142232"/>
            <a:ext cx="237744" cy="237744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7223760" y="39959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a Human Fallback</a:t>
            </a:r>
            <a:endParaRPr lang="en-US" sz="1500" dirty="0"/>
          </a:p>
        </p:txBody>
      </p:sp>
      <p:sp>
        <p:nvSpPr>
          <p:cNvPr id="37" name="Text 27"/>
          <p:cNvSpPr txBox="1"/>
          <p:nvPr/>
        </p:nvSpPr>
        <p:spPr>
          <a:xfrm>
            <a:off x="7223760" y="437083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signal below the AI's confidence threshold routes to a human operator — never silently auto-closed.</a:t>
            </a:r>
            <a:endParaRPr lang="en-US" sz="1250" dirty="0"/>
          </a:p>
        </p:txBody>
      </p:sp>
      <p:sp>
        <p:nvSpPr>
          <p:cNvPr id="38" name="Shape 28"/>
          <p:cNvSpPr/>
          <p:nvPr/>
        </p:nvSpPr>
        <p:spPr>
          <a:xfrm>
            <a:off x="6629400" y="5093208"/>
            <a:ext cx="438912" cy="438912"/>
          </a:xfrm>
          <a:prstGeom prst="ellipse">
            <a:avLst/>
          </a:prstGeom>
          <a:solidFill>
            <a:srgbClr val="FDEEE9"/>
          </a:solidFill>
          <a:ln/>
        </p:spPr>
      </p:sp>
      <p:pic>
        <p:nvPicPr>
          <p:cNvPr id="39" name="Image 8" descr="/home/claude/icons/handshake_FF4C2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9984" y="5193792"/>
            <a:ext cx="237744" cy="237744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7223760" y="5047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Safety Net</a:t>
            </a:r>
            <a:endParaRPr lang="en-US" sz="1500" dirty="0"/>
          </a:p>
        </p:txBody>
      </p:sp>
      <p:sp>
        <p:nvSpPr>
          <p:cNvPr id="41" name="Text 30"/>
          <p:cNvSpPr txBox="1"/>
          <p:nvPr/>
        </p:nvSpPr>
        <p:spPr>
          <a:xfrm>
            <a:off x="7223760" y="5422392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verified response adds to a trusted, tamper-proof record — building civic trust over time.</a:t>
            </a:r>
            <a:endParaRPr lang="en-US" sz="1250" dirty="0"/>
          </a:p>
        </p:txBody>
      </p:sp>
      <p:sp>
        <p:nvSpPr>
          <p:cNvPr id="42" name="Text 31"/>
          <p:cNvSpPr txBox="1"/>
          <p:nvPr/>
        </p:nvSpPr>
        <p:spPr>
          <a:xfrm>
            <a:off x="45720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AcciSense  |  Team Runtime Terror</a:t>
            </a:r>
            <a:endParaRPr lang="en-US" sz="1100" dirty="0"/>
          </a:p>
        </p:txBody>
      </p:sp>
      <p:sp>
        <p:nvSpPr>
          <p:cNvPr id="43" name="Text 32"/>
          <p:cNvSpPr txBox="1"/>
          <p:nvPr/>
        </p:nvSpPr>
        <p:spPr>
          <a:xfrm>
            <a:off x="11277295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2026-09-10T20:33:44Z</dcterms:created>
  <dcterms:modified xsi:type="dcterms:W3CDTF">2026-09-10T20:33:44Z</dcterms:modified>
</cp:coreProperties>
</file>